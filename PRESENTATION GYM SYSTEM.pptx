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F1DD3F3C-2658-07F1-1CB6-B9C733309A1C}" name="PC" initials="P" userId="PC"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5" d="100"/>
          <a:sy n="65" d="100"/>
        </p:scale>
        <p:origin x="724"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DE6B02-4BE4-4DBB-8BEA-7062F43E24CE}"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49D70E-5853-4DE1-82D2-10D9E0936F19}" type="slidenum">
              <a:rPr lang="en-US" smtClean="0"/>
              <a:t>‹#›</a:t>
            </a:fld>
            <a:endParaRPr lang="en-US"/>
          </a:p>
        </p:txBody>
      </p:sp>
    </p:spTree>
    <p:extLst>
      <p:ext uri="{BB962C8B-B14F-4D97-AF65-F5344CB8AC3E}">
        <p14:creationId xmlns:p14="http://schemas.microsoft.com/office/powerpoint/2010/main" val="3404057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266AF9-440D-4D26-9AE7-843E9EABED10}"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3898434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266AF9-440D-4D26-9AE7-843E9EABED10}"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2045053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266AF9-440D-4D26-9AE7-843E9EABED10}"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509680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266AF9-440D-4D26-9AE7-843E9EABED10}"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455672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266AF9-440D-4D26-9AE7-843E9EABED10}" type="datetimeFigureOut">
              <a:rPr lang="en-US" smtClean="0"/>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3059551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266AF9-440D-4D26-9AE7-843E9EABED10}" type="datetimeFigureOut">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2204602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266AF9-440D-4D26-9AE7-843E9EABED10}" type="datetimeFigureOut">
              <a:rPr lang="en-US" smtClean="0"/>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3207673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266AF9-440D-4D26-9AE7-843E9EABED10}"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1464162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266AF9-440D-4D26-9AE7-843E9EABED10}"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1098554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266AF9-440D-4D26-9AE7-843E9EABED10}"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2602197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266AF9-440D-4D26-9AE7-843E9EABED10}"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1761432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266AF9-440D-4D26-9AE7-843E9EABED10}"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4EF42D-3AC4-4388-A3DA-FC81233BCA66}"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391561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266AF9-440D-4D26-9AE7-843E9EABED10}"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3914033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C266AF9-440D-4D26-9AE7-843E9EABED10}" type="datetimeFigureOut">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3192120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C266AF9-440D-4D26-9AE7-843E9EABED10}" type="datetimeFigureOut">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38611335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266AF9-440D-4D26-9AE7-843E9EABED10}"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2858242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266AF9-440D-4D26-9AE7-843E9EABED10}"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4EF42D-3AC4-4388-A3DA-FC81233BCA66}" type="slidenum">
              <a:rPr lang="en-US" smtClean="0"/>
              <a:t>‹#›</a:t>
            </a:fld>
            <a:endParaRPr lang="en-US"/>
          </a:p>
        </p:txBody>
      </p:sp>
    </p:spTree>
    <p:extLst>
      <p:ext uri="{BB962C8B-B14F-4D97-AF65-F5344CB8AC3E}">
        <p14:creationId xmlns:p14="http://schemas.microsoft.com/office/powerpoint/2010/main" val="1342498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C266AF9-440D-4D26-9AE7-843E9EABED10}" type="datetimeFigureOut">
              <a:rPr lang="en-US" smtClean="0"/>
              <a:t>1/26/2026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B4EF42D-3AC4-4388-A3DA-FC81233BCA66}" type="slidenum">
              <a:rPr lang="en-US" smtClean="0"/>
              <a:t>‹#›</a:t>
            </a:fld>
            <a:endParaRPr lang="en-US"/>
          </a:p>
        </p:txBody>
      </p:sp>
    </p:spTree>
    <p:extLst>
      <p:ext uri="{BB962C8B-B14F-4D97-AF65-F5344CB8AC3E}">
        <p14:creationId xmlns:p14="http://schemas.microsoft.com/office/powerpoint/2010/main" val="4026121795"/>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focusfitness.net/stock-photos/downloads/modern-gym-free-weights-machine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technofaq.org/posts/2017/06/10-gadgets-and-gizmos-for-getting-fit/" TargetMode="External"/><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hyperlink" Target="https://dribbble.com/shots/26656253-Fitness-Mobile-App-Concept" TargetMode="External"/><Relationship Id="rId5" Type="http://schemas.openxmlformats.org/officeDocument/2006/relationships/image" Target="../media/image4.jpg"/><Relationship Id="rId4" Type="http://schemas.openxmlformats.org/officeDocument/2006/relationships/hyperlink" Target="https://creativecommons.org/licenses/by-nc-sa/3.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E742-8F5B-4785-D67D-C44A30D1FB6A}"/>
              </a:ext>
            </a:extLst>
          </p:cNvPr>
          <p:cNvSpPr>
            <a:spLocks noGrp="1"/>
          </p:cNvSpPr>
          <p:nvPr>
            <p:ph type="ctrTitle"/>
          </p:nvPr>
        </p:nvSpPr>
        <p:spPr>
          <a:xfrm>
            <a:off x="1229032" y="511278"/>
            <a:ext cx="9438968" cy="1032388"/>
          </a:xfrm>
        </p:spPr>
        <p:txBody>
          <a:bodyPr>
            <a:noAutofit/>
          </a:bodyPr>
          <a:lstStyle/>
          <a:p>
            <a:r>
              <a:rPr lang="en-US" sz="3600" b="1" dirty="0">
                <a:latin typeface="Times New Roman" panose="02020603050405020304" pitchFamily="18" charset="0"/>
                <a:cs typeface="Times New Roman" panose="02020603050405020304" pitchFamily="18" charset="0"/>
              </a:rPr>
              <a:t>HEBRON APARTMENT-BASED GYM MANAGEMENT SYSTEM</a:t>
            </a:r>
          </a:p>
        </p:txBody>
      </p:sp>
      <p:sp>
        <p:nvSpPr>
          <p:cNvPr id="3" name="Subtitle 2">
            <a:extLst>
              <a:ext uri="{FF2B5EF4-FFF2-40B4-BE49-F238E27FC236}">
                <a16:creationId xmlns:a16="http://schemas.microsoft.com/office/drawing/2014/main" id="{B699ED88-19C4-4903-BE95-B0CD12EA8560}"/>
              </a:ext>
            </a:extLst>
          </p:cNvPr>
          <p:cNvSpPr>
            <a:spLocks noGrp="1"/>
          </p:cNvSpPr>
          <p:nvPr>
            <p:ph type="subTitle" idx="1"/>
          </p:nvPr>
        </p:nvSpPr>
        <p:spPr>
          <a:xfrm>
            <a:off x="1022555" y="1435510"/>
            <a:ext cx="9645445" cy="6066503"/>
          </a:xfrm>
        </p:spPr>
        <p:txBody>
          <a:bodyPr>
            <a:normAutofit/>
          </a:bodyPr>
          <a:lstStyle/>
          <a:p>
            <a:r>
              <a:rPr lang="en-US" sz="2800" dirty="0">
                <a:latin typeface="Times New Roman" panose="02020603050405020304" pitchFamily="18" charset="0"/>
                <a:cs typeface="Times New Roman" panose="02020603050405020304" pitchFamily="18" charset="0"/>
              </a:rPr>
              <a:t>CHRISTINE NYAWIRA GITONGA </a:t>
            </a:r>
          </a:p>
          <a:p>
            <a:r>
              <a:rPr lang="en-US" sz="2800" dirty="0">
                <a:latin typeface="Times New Roman" panose="02020603050405020304" pitchFamily="18" charset="0"/>
                <a:cs typeface="Times New Roman" panose="02020603050405020304" pitchFamily="18" charset="0"/>
              </a:rPr>
              <a:t>BBIT 3.2</a:t>
            </a:r>
          </a:p>
          <a:p>
            <a:r>
              <a:rPr lang="en-US" sz="2800" dirty="0">
                <a:latin typeface="Times New Roman" panose="02020603050405020304" pitchFamily="18" charset="0"/>
                <a:cs typeface="Times New Roman" panose="02020603050405020304" pitchFamily="18" charset="0"/>
              </a:rPr>
              <a:t>HDB212-D1-0697/2023</a:t>
            </a:r>
          </a:p>
          <a:p>
            <a:r>
              <a:rPr lang="en-US" sz="2800" dirty="0">
                <a:latin typeface="Times New Roman" panose="02020603050405020304" pitchFamily="18" charset="0"/>
                <a:cs typeface="Times New Roman" panose="02020603050405020304" pitchFamily="18" charset="0"/>
              </a:rPr>
              <a:t>JOMO KENYATTA UNIVERSITY OF AGRICULTURE AND TECHNOLOGY</a:t>
            </a:r>
          </a:p>
          <a:p>
            <a:r>
              <a:rPr lang="en-US" sz="2800" dirty="0">
                <a:latin typeface="Times New Roman" panose="02020603050405020304" pitchFamily="18" charset="0"/>
                <a:cs typeface="Times New Roman" panose="02020603050405020304" pitchFamily="18" charset="0"/>
              </a:rPr>
              <a:t>28/01/2026</a:t>
            </a:r>
          </a:p>
          <a:p>
            <a:endParaRPr lang="en-US" dirty="0"/>
          </a:p>
          <a:p>
            <a:endParaRPr lang="en-US" dirty="0"/>
          </a:p>
        </p:txBody>
      </p:sp>
      <p:pic>
        <p:nvPicPr>
          <p:cNvPr id="8" name="Picture 7">
            <a:extLst>
              <a:ext uri="{FF2B5EF4-FFF2-40B4-BE49-F238E27FC236}">
                <a16:creationId xmlns:a16="http://schemas.microsoft.com/office/drawing/2014/main" id="{BF936BCD-7391-644C-27FD-B1924607E36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254476" y="5063613"/>
            <a:ext cx="5378248" cy="1794386"/>
          </a:xfrm>
          <a:prstGeom prst="rect">
            <a:avLst/>
          </a:prstGeom>
        </p:spPr>
      </p:pic>
    </p:spTree>
    <p:extLst>
      <p:ext uri="{BB962C8B-B14F-4D97-AF65-F5344CB8AC3E}">
        <p14:creationId xmlns:p14="http://schemas.microsoft.com/office/powerpoint/2010/main" val="215958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C2703-A7A8-0AD4-12B9-A198C46557BE}"/>
              </a:ext>
            </a:extLst>
          </p:cNvPr>
          <p:cNvSpPr>
            <a:spLocks noGrp="1"/>
          </p:cNvSpPr>
          <p:nvPr>
            <p:ph type="title"/>
          </p:nvPr>
        </p:nvSpPr>
        <p:spPr/>
        <p:txBody>
          <a:bodyPr/>
          <a:lstStyle/>
          <a:p>
            <a:r>
              <a:rPr lang="en-US" dirty="0"/>
              <a:t>          </a:t>
            </a:r>
            <a:r>
              <a:rPr lang="en-US" sz="36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F0A99DB-A899-4E5F-C001-199DE5704F63}"/>
              </a:ext>
            </a:extLst>
          </p:cNvPr>
          <p:cNvSpPr>
            <a:spLocks noGrp="1"/>
          </p:cNvSpPr>
          <p:nvPr>
            <p:ph idx="1"/>
          </p:nvPr>
        </p:nvSpPr>
        <p:spPr>
          <a:xfrm>
            <a:off x="838200" y="1637275"/>
            <a:ext cx="10515600" cy="2274427"/>
          </a:xfrm>
        </p:spPr>
        <p:txBody>
          <a:bodyPr>
            <a:noAutofit/>
          </a:bodyPr>
          <a:lstStyle/>
          <a:p>
            <a:r>
              <a:rPr lang="en-US" dirty="0">
                <a:latin typeface="Times New Roman" panose="02020603050405020304" pitchFamily="18" charset="0"/>
                <a:cs typeface="Times New Roman" panose="02020603050405020304" pitchFamily="18" charset="0"/>
              </a:rPr>
              <a:t>Modern apartments provide shared gym facilities to their residents</a:t>
            </a:r>
          </a:p>
          <a:p>
            <a:r>
              <a:rPr lang="en-US" dirty="0">
                <a:latin typeface="Times New Roman" panose="02020603050405020304" pitchFamily="18" charset="0"/>
                <a:cs typeface="Times New Roman" panose="02020603050405020304" pitchFamily="18" charset="0"/>
              </a:rPr>
              <a:t>Managing data manually is prone to errors</a:t>
            </a:r>
          </a:p>
          <a:p>
            <a:r>
              <a:rPr lang="en-US" dirty="0">
                <a:latin typeface="Times New Roman" panose="02020603050405020304" pitchFamily="18" charset="0"/>
                <a:cs typeface="Times New Roman" panose="02020603050405020304" pitchFamily="18" charset="0"/>
              </a:rPr>
              <a:t>Aim of this system is to offer high quality management of gym operations to ensure residents are provided with efficient, reliable, and a user-friendly system for managing membership, attendance and payments.</a:t>
            </a:r>
          </a:p>
        </p:txBody>
      </p:sp>
    </p:spTree>
    <p:extLst>
      <p:ext uri="{BB962C8B-B14F-4D97-AF65-F5344CB8AC3E}">
        <p14:creationId xmlns:p14="http://schemas.microsoft.com/office/powerpoint/2010/main" val="2639674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859EC-8908-F499-CE0B-9605406A2ACA}"/>
              </a:ext>
            </a:extLst>
          </p:cNvPr>
          <p:cNvSpPr>
            <a:spLocks noGrp="1"/>
          </p:cNvSpPr>
          <p:nvPr>
            <p:ph type="title"/>
          </p:nvPr>
        </p:nvSpPr>
        <p:spPr>
          <a:xfrm>
            <a:off x="383458" y="609600"/>
            <a:ext cx="8042787" cy="1326321"/>
          </a:xfrm>
        </p:spPr>
        <p:txBody>
          <a:bodyPr>
            <a:normAutofit/>
          </a:bodyPr>
          <a:lstStyle/>
          <a:p>
            <a:r>
              <a:rPr lang="en-US" sz="20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908FDB4F-8B43-3751-375F-1F9F7C68A786}"/>
              </a:ext>
            </a:extLst>
          </p:cNvPr>
          <p:cNvSpPr>
            <a:spLocks noGrp="1"/>
          </p:cNvSpPr>
          <p:nvPr>
            <p:ph idx="1"/>
          </p:nvPr>
        </p:nvSpPr>
        <p:spPr>
          <a:xfrm>
            <a:off x="1809136" y="1935922"/>
            <a:ext cx="9544664" cy="4241042"/>
          </a:xfrm>
        </p:spPr>
        <p:txBody>
          <a:bodyPr>
            <a:normAutofit/>
          </a:bodyPr>
          <a:lstStyle/>
          <a:p>
            <a:r>
              <a:rPr lang="en-US" dirty="0">
                <a:latin typeface="Times New Roman" panose="02020603050405020304" pitchFamily="18" charset="0"/>
                <a:cs typeface="Times New Roman" panose="02020603050405020304" pitchFamily="18" charset="0"/>
              </a:rPr>
              <a:t>Manual work leads to data loss and security breach, too much paperwork and redundancy </a:t>
            </a:r>
            <a:r>
              <a:rPr lang="en-US" dirty="0">
                <a:effectLst/>
                <a:latin typeface="Times New Roman" panose="02020603050405020304" pitchFamily="18" charset="0"/>
                <a:ea typeface="Calibri" panose="020F0502020204030204" pitchFamily="34" charset="0"/>
                <a:cs typeface="Times New Roman" panose="02020603050405020304" pitchFamily="18" charset="0"/>
              </a:rPr>
              <a:t>, slow decision making, poor tracking of the clients’ subscription and billing charges, overloading the trainers with work and poor service delivery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5562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0E569-C6CE-4BC8-6E9E-6322C3A23D59}"/>
              </a:ext>
            </a:extLst>
          </p:cNvPr>
          <p:cNvSpPr>
            <a:spLocks noGrp="1"/>
          </p:cNvSpPr>
          <p:nvPr>
            <p:ph type="title"/>
          </p:nvPr>
        </p:nvSpPr>
        <p:spPr>
          <a:xfrm>
            <a:off x="838200" y="609601"/>
            <a:ext cx="7679599" cy="904568"/>
          </a:xfrm>
        </p:spPr>
        <p:txBody>
          <a:bodyPr>
            <a:normAutofit/>
          </a:bodyPr>
          <a:lstStyle/>
          <a:p>
            <a:r>
              <a:rPr lang="en-US" sz="28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OBJECTIVES OF THE SYSTEM</a:t>
            </a:r>
          </a:p>
        </p:txBody>
      </p:sp>
      <p:sp>
        <p:nvSpPr>
          <p:cNvPr id="3" name="Content Placeholder 2">
            <a:extLst>
              <a:ext uri="{FF2B5EF4-FFF2-40B4-BE49-F238E27FC236}">
                <a16:creationId xmlns:a16="http://schemas.microsoft.com/office/drawing/2014/main" id="{D8F05169-6B2D-7B73-23FD-80221A4935E5}"/>
              </a:ext>
            </a:extLst>
          </p:cNvPr>
          <p:cNvSpPr>
            <a:spLocks noGrp="1"/>
          </p:cNvSpPr>
          <p:nvPr>
            <p:ph idx="1"/>
          </p:nvPr>
        </p:nvSpPr>
        <p:spPr>
          <a:xfrm>
            <a:off x="1327354" y="1720645"/>
            <a:ext cx="10026445" cy="4456318"/>
          </a:xfrm>
        </p:spPr>
        <p:txBody>
          <a:bodyPr>
            <a:normAutofit/>
          </a:bodyPr>
          <a:lstStyle/>
          <a:p>
            <a:pPr lvl="0"/>
            <a:r>
              <a:rPr lang="en-US" dirty="0">
                <a:latin typeface="Times New Roman" panose="02020603050405020304" pitchFamily="18" charset="0"/>
                <a:cs typeface="Times New Roman" panose="02020603050405020304" pitchFamily="18" charset="0"/>
              </a:rPr>
              <a:t>Improve service delivery</a:t>
            </a:r>
          </a:p>
          <a:p>
            <a:pPr lvl="0"/>
            <a:r>
              <a:rPr lang="en-US" dirty="0">
                <a:latin typeface="Times New Roman" panose="02020603050405020304" pitchFamily="18" charset="0"/>
                <a:cs typeface="Times New Roman" panose="02020603050405020304" pitchFamily="18" charset="0"/>
              </a:rPr>
              <a:t> Automation of membership management the system ensures that the membership renewal of subscription, tracking the subscription status and handling of their personal data is securely done.</a:t>
            </a:r>
          </a:p>
          <a:p>
            <a:pPr lvl="0"/>
            <a:r>
              <a:rPr lang="en-US" dirty="0">
                <a:latin typeface="Times New Roman" panose="02020603050405020304" pitchFamily="18" charset="0"/>
                <a:cs typeface="Times New Roman" panose="02020603050405020304" pitchFamily="18" charset="0"/>
              </a:rPr>
              <a:t>Payment management</a:t>
            </a:r>
          </a:p>
          <a:p>
            <a:pPr lvl="0"/>
            <a:r>
              <a:rPr lang="en-US" dirty="0">
                <a:latin typeface="Times New Roman" panose="02020603050405020304" pitchFamily="18" charset="0"/>
                <a:cs typeface="Times New Roman" panose="02020603050405020304" pitchFamily="18" charset="0"/>
              </a:rPr>
              <a:t>Real-time tracking to minimize errors</a:t>
            </a:r>
          </a:p>
          <a:p>
            <a:pPr lvl="0"/>
            <a:r>
              <a:rPr lang="en-US" dirty="0">
                <a:latin typeface="Times New Roman" panose="02020603050405020304" pitchFamily="18" charset="0"/>
                <a:cs typeface="Times New Roman" panose="02020603050405020304" pitchFamily="18" charset="0"/>
              </a:rPr>
              <a:t>Centralized communication between clients and trainers</a:t>
            </a:r>
          </a:p>
          <a:p>
            <a:endParaRPr lang="en-US" dirty="0"/>
          </a:p>
        </p:txBody>
      </p:sp>
    </p:spTree>
    <p:extLst>
      <p:ext uri="{BB962C8B-B14F-4D97-AF65-F5344CB8AC3E}">
        <p14:creationId xmlns:p14="http://schemas.microsoft.com/office/powerpoint/2010/main" val="1069908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94349-C847-9663-A333-70A7DB599B4B}"/>
              </a:ext>
            </a:extLst>
          </p:cNvPr>
          <p:cNvSpPr>
            <a:spLocks noGrp="1"/>
          </p:cNvSpPr>
          <p:nvPr>
            <p:ph type="title"/>
          </p:nvPr>
        </p:nvSpPr>
        <p:spPr>
          <a:xfrm>
            <a:off x="462117" y="609600"/>
            <a:ext cx="7285702" cy="1326321"/>
          </a:xfrm>
        </p:spPr>
        <p:txBody>
          <a:bodyPr>
            <a:normAutofit/>
          </a:bodyPr>
          <a:lstStyle/>
          <a:p>
            <a:r>
              <a:rPr lang="en-US" sz="28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SCOPE OF THE SYSTEM</a:t>
            </a:r>
          </a:p>
        </p:txBody>
      </p:sp>
      <p:sp>
        <p:nvSpPr>
          <p:cNvPr id="3" name="Content Placeholder 2">
            <a:extLst>
              <a:ext uri="{FF2B5EF4-FFF2-40B4-BE49-F238E27FC236}">
                <a16:creationId xmlns:a16="http://schemas.microsoft.com/office/drawing/2014/main" id="{8070EDB2-BDB0-4AC9-9C0D-C47CB31B4CD9}"/>
              </a:ext>
            </a:extLst>
          </p:cNvPr>
          <p:cNvSpPr>
            <a:spLocks noGrp="1"/>
          </p:cNvSpPr>
          <p:nvPr>
            <p:ph idx="1"/>
          </p:nvPr>
        </p:nvSpPr>
        <p:spPr>
          <a:xfrm>
            <a:off x="1691149" y="1779639"/>
            <a:ext cx="10363200" cy="2084438"/>
          </a:xfrm>
        </p:spPr>
        <p:txBody>
          <a:bodyPr/>
          <a:lstStyle/>
          <a:p>
            <a:pPr marL="0" indent="0">
              <a:buNone/>
            </a:pPr>
            <a:r>
              <a:rPr lang="en-US" dirty="0">
                <a:latin typeface="Times New Roman" panose="02020603050405020304" pitchFamily="18" charset="0"/>
                <a:cs typeface="Times New Roman" panose="02020603050405020304" pitchFamily="18" charset="0"/>
              </a:rPr>
              <a:t>Designed for apartment residential gyms</a:t>
            </a:r>
          </a:p>
          <a:p>
            <a:pPr marL="0" indent="0">
              <a:buNone/>
            </a:pPr>
            <a:r>
              <a:rPr lang="en-US" dirty="0">
                <a:latin typeface="Times New Roman" panose="02020603050405020304" pitchFamily="18" charset="0"/>
                <a:cs typeface="Times New Roman" panose="02020603050405020304" pitchFamily="18" charset="0"/>
              </a:rPr>
              <a:t>Used by gym administrators and residents</a:t>
            </a:r>
          </a:p>
          <a:p>
            <a:r>
              <a:rPr lang="en-US" dirty="0">
                <a:latin typeface="Times New Roman" panose="02020603050405020304" pitchFamily="18" charset="0"/>
                <a:cs typeface="Times New Roman" panose="02020603050405020304" pitchFamily="18" charset="0"/>
              </a:rPr>
              <a:t>Handles member registration, subscription management, class scheduling, equipment tracking, and digital payments. </a:t>
            </a:r>
          </a:p>
          <a:p>
            <a:endParaRPr lang="en-US"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spTree>
    <p:extLst>
      <p:ext uri="{BB962C8B-B14F-4D97-AF65-F5344CB8AC3E}">
        <p14:creationId xmlns:p14="http://schemas.microsoft.com/office/powerpoint/2010/main" val="1829504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0D0A3-7515-B7F5-E729-9BF2BE85EA49}"/>
              </a:ext>
            </a:extLst>
          </p:cNvPr>
          <p:cNvSpPr>
            <a:spLocks noGrp="1"/>
          </p:cNvSpPr>
          <p:nvPr>
            <p:ph type="title"/>
          </p:nvPr>
        </p:nvSpPr>
        <p:spPr>
          <a:xfrm>
            <a:off x="275303" y="609600"/>
            <a:ext cx="6420465" cy="1326321"/>
          </a:xfrm>
        </p:spPr>
        <p:txBody>
          <a:bodyPr/>
          <a:lstStyle/>
          <a:p>
            <a:r>
              <a:rPr lang="en-US" dirty="0"/>
              <a:t>	</a:t>
            </a:r>
            <a:r>
              <a:rPr lang="en-US" sz="36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62B5F11B-AEE3-6293-3F56-2D76B5CB9BC9}"/>
              </a:ext>
            </a:extLst>
          </p:cNvPr>
          <p:cNvSpPr>
            <a:spLocks noGrp="1"/>
          </p:cNvSpPr>
          <p:nvPr>
            <p:ph idx="1"/>
          </p:nvPr>
        </p:nvSpPr>
        <p:spPr>
          <a:xfrm>
            <a:off x="1524000" y="1612491"/>
            <a:ext cx="9829800" cy="4326194"/>
          </a:xfrm>
        </p:spPr>
        <p:txBody>
          <a:bodyPr>
            <a:normAutofit/>
          </a:bodyPr>
          <a:lstStyle/>
          <a:p>
            <a:r>
              <a:rPr lang="en-US" dirty="0">
                <a:latin typeface="Times New Roman" panose="02020603050405020304" pitchFamily="18" charset="0"/>
                <a:cs typeface="Times New Roman" panose="02020603050405020304" pitchFamily="18" charset="0"/>
              </a:rPr>
              <a:t>Manual registration of members</a:t>
            </a:r>
          </a:p>
          <a:p>
            <a:r>
              <a:rPr lang="en-US" dirty="0">
                <a:latin typeface="Times New Roman" panose="02020603050405020304" pitchFamily="18" charset="0"/>
                <a:cs typeface="Times New Roman" panose="02020603050405020304" pitchFamily="18" charset="0"/>
              </a:rPr>
              <a:t>Unstructured payment methods</a:t>
            </a:r>
          </a:p>
          <a:p>
            <a:r>
              <a:rPr lang="en-US" dirty="0">
                <a:latin typeface="Times New Roman" panose="02020603050405020304" pitchFamily="18" charset="0"/>
                <a:cs typeface="Times New Roman" panose="02020603050405020304" pitchFamily="18" charset="0"/>
              </a:rPr>
              <a:t>Tracking attendance on paper</a:t>
            </a:r>
          </a:p>
        </p:txBody>
      </p:sp>
    </p:spTree>
    <p:extLst>
      <p:ext uri="{BB962C8B-B14F-4D97-AF65-F5344CB8AC3E}">
        <p14:creationId xmlns:p14="http://schemas.microsoft.com/office/powerpoint/2010/main" val="172712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9FF8B-5072-4761-941F-EE5B5CBF719B}"/>
              </a:ext>
            </a:extLst>
          </p:cNvPr>
          <p:cNvSpPr>
            <a:spLocks noGrp="1"/>
          </p:cNvSpPr>
          <p:nvPr>
            <p:ph type="title"/>
          </p:nvPr>
        </p:nvSpPr>
        <p:spPr>
          <a:xfrm>
            <a:off x="913795" y="609600"/>
            <a:ext cx="6017947" cy="1326321"/>
          </a:xfrm>
        </p:spPr>
        <p:txBody>
          <a:bodyPr>
            <a:normAutofit/>
          </a:bodyPr>
          <a:lstStyle/>
          <a:p>
            <a:r>
              <a:rPr lang="en-US" sz="2800" b="1"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09A4C2DA-308D-B853-FB4B-6D35E4E8F696}"/>
              </a:ext>
            </a:extLst>
          </p:cNvPr>
          <p:cNvSpPr>
            <a:spLocks noGrp="1"/>
          </p:cNvSpPr>
          <p:nvPr>
            <p:ph idx="1"/>
          </p:nvPr>
        </p:nvSpPr>
        <p:spPr>
          <a:xfrm>
            <a:off x="1887794" y="1690688"/>
            <a:ext cx="9466006" cy="4486275"/>
          </a:xfrm>
        </p:spPr>
        <p:txBody>
          <a:bodyPr>
            <a:normAutofit/>
          </a:bodyPr>
          <a:lstStyle/>
          <a:p>
            <a:r>
              <a:rPr lang="en-US" dirty="0">
                <a:latin typeface="Times New Roman" panose="02020603050405020304" pitchFamily="18" charset="0"/>
                <a:cs typeface="Times New Roman" panose="02020603050405020304" pitchFamily="18" charset="0"/>
              </a:rPr>
              <a:t>Digital membership registration</a:t>
            </a:r>
          </a:p>
          <a:p>
            <a:r>
              <a:rPr lang="en-US" dirty="0">
                <a:latin typeface="Times New Roman" panose="02020603050405020304" pitchFamily="18" charset="0"/>
                <a:cs typeface="Times New Roman" panose="02020603050405020304" pitchFamily="18" charset="0"/>
              </a:rPr>
              <a:t>Automated tracking of attendance</a:t>
            </a:r>
          </a:p>
          <a:p>
            <a:r>
              <a:rPr lang="en-US" dirty="0">
                <a:latin typeface="Times New Roman" panose="02020603050405020304" pitchFamily="18" charset="0"/>
                <a:cs typeface="Times New Roman" panose="02020603050405020304" pitchFamily="18" charset="0"/>
              </a:rPr>
              <a:t>Manageable payments and billing</a:t>
            </a:r>
          </a:p>
          <a:p>
            <a:r>
              <a:rPr lang="en-US" dirty="0">
                <a:latin typeface="Times New Roman" panose="02020603050405020304" pitchFamily="18" charset="0"/>
                <a:cs typeface="Times New Roman" panose="02020603050405020304" pitchFamily="18" charset="0"/>
              </a:rPr>
              <a:t>Centralized communication between clients and trainers</a:t>
            </a:r>
          </a:p>
        </p:txBody>
      </p:sp>
    </p:spTree>
    <p:extLst>
      <p:ext uri="{BB962C8B-B14F-4D97-AF65-F5344CB8AC3E}">
        <p14:creationId xmlns:p14="http://schemas.microsoft.com/office/powerpoint/2010/main" val="10753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BE647-D13A-8D0B-238B-E2FB98B31D0B}"/>
              </a:ext>
            </a:extLst>
          </p:cNvPr>
          <p:cNvSpPr>
            <a:spLocks noGrp="1"/>
          </p:cNvSpPr>
          <p:nvPr>
            <p:ph type="title"/>
          </p:nvPr>
        </p:nvSpPr>
        <p:spPr>
          <a:xfrm>
            <a:off x="913796" y="609600"/>
            <a:ext cx="6873352" cy="1326321"/>
          </a:xfrm>
        </p:spPr>
        <p:txBody>
          <a:bodyPr/>
          <a:lstStyle/>
          <a:p>
            <a:r>
              <a:rPr lang="en-US" sz="3600" b="1" dirty="0">
                <a:latin typeface="Times New Roman" panose="02020603050405020304" pitchFamily="18" charset="0"/>
                <a:cs typeface="Times New Roman" panose="02020603050405020304" pitchFamily="18" charset="0"/>
              </a:rPr>
              <a:t>SYSTEM USERS</a:t>
            </a:r>
          </a:p>
        </p:txBody>
      </p:sp>
      <p:sp>
        <p:nvSpPr>
          <p:cNvPr id="3" name="Content Placeholder 2">
            <a:extLst>
              <a:ext uri="{FF2B5EF4-FFF2-40B4-BE49-F238E27FC236}">
                <a16:creationId xmlns:a16="http://schemas.microsoft.com/office/drawing/2014/main" id="{1EBB646E-064C-6F94-B022-963AE36E042B}"/>
              </a:ext>
            </a:extLst>
          </p:cNvPr>
          <p:cNvSpPr>
            <a:spLocks noGrp="1"/>
          </p:cNvSpPr>
          <p:nvPr>
            <p:ph idx="1"/>
          </p:nvPr>
        </p:nvSpPr>
        <p:spPr>
          <a:xfrm>
            <a:off x="2222090" y="2035277"/>
            <a:ext cx="9131710" cy="4141686"/>
          </a:xfrm>
        </p:spPr>
        <p:txBody>
          <a:bodyPr>
            <a:normAutofit/>
          </a:bodyPr>
          <a:lstStyle/>
          <a:p>
            <a:r>
              <a:rPr lang="en-US" dirty="0">
                <a:latin typeface="Times New Roman" panose="02020603050405020304" pitchFamily="18" charset="0"/>
                <a:cs typeface="Times New Roman" panose="02020603050405020304" pitchFamily="18" charset="0"/>
              </a:rPr>
              <a:t>Gym administrators manage the operations of the system, maintenance and schedules</a:t>
            </a:r>
          </a:p>
          <a:p>
            <a:r>
              <a:rPr lang="en-US" dirty="0">
                <a:latin typeface="Times New Roman" panose="02020603050405020304" pitchFamily="18" charset="0"/>
                <a:cs typeface="Times New Roman" panose="02020603050405020304" pitchFamily="18" charset="0"/>
              </a:rPr>
              <a:t>Apartment residents use the gym services</a:t>
            </a:r>
          </a:p>
          <a:p>
            <a:r>
              <a:rPr lang="en-US" dirty="0">
                <a:latin typeface="Times New Roman" panose="02020603050405020304" pitchFamily="18" charset="0"/>
                <a:cs typeface="Times New Roman" panose="02020603050405020304" pitchFamily="18" charset="0"/>
              </a:rPr>
              <a:t>Apartment management review reports</a:t>
            </a:r>
          </a:p>
        </p:txBody>
      </p:sp>
    </p:spTree>
    <p:extLst>
      <p:ext uri="{BB962C8B-B14F-4D97-AF65-F5344CB8AC3E}">
        <p14:creationId xmlns:p14="http://schemas.microsoft.com/office/powerpoint/2010/main" val="439801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DF791-91AA-DD62-1934-C2AF45768333}"/>
              </a:ext>
            </a:extLst>
          </p:cNvPr>
          <p:cNvSpPr>
            <a:spLocks noGrp="1"/>
          </p:cNvSpPr>
          <p:nvPr>
            <p:ph type="title"/>
          </p:nvPr>
        </p:nvSpPr>
        <p:spPr>
          <a:xfrm>
            <a:off x="629266" y="609600"/>
            <a:ext cx="8937522" cy="1326321"/>
          </a:xfrm>
        </p:spPr>
        <p:txBody>
          <a:bodyPr>
            <a:normAutofit/>
          </a:bodyPr>
          <a:lstStyle/>
          <a:p>
            <a:r>
              <a:rPr lang="en-US" sz="2800" b="1"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FUNCTIONAL REQUIREMENTS</a:t>
            </a:r>
          </a:p>
        </p:txBody>
      </p:sp>
      <p:sp>
        <p:nvSpPr>
          <p:cNvPr id="3" name="Content Placeholder 2">
            <a:extLst>
              <a:ext uri="{FF2B5EF4-FFF2-40B4-BE49-F238E27FC236}">
                <a16:creationId xmlns:a16="http://schemas.microsoft.com/office/drawing/2014/main" id="{28655F6C-7FC8-0968-2874-576A462E532A}"/>
              </a:ext>
            </a:extLst>
          </p:cNvPr>
          <p:cNvSpPr>
            <a:spLocks noGrp="1"/>
          </p:cNvSpPr>
          <p:nvPr>
            <p:ph idx="1"/>
          </p:nvPr>
        </p:nvSpPr>
        <p:spPr>
          <a:xfrm>
            <a:off x="1995948" y="1877961"/>
            <a:ext cx="9357852" cy="4299002"/>
          </a:xfrm>
        </p:spPr>
        <p:txBody>
          <a:bodyPr>
            <a:normAutofit/>
          </a:bodyPr>
          <a:lstStyle/>
          <a:p>
            <a:r>
              <a:rPr lang="en-US" dirty="0">
                <a:latin typeface="Times New Roman" panose="02020603050405020304" pitchFamily="18" charset="0"/>
                <a:cs typeface="Times New Roman" panose="02020603050405020304" pitchFamily="18" charset="0"/>
              </a:rPr>
              <a:t>User registration and log in</a:t>
            </a:r>
          </a:p>
          <a:p>
            <a:r>
              <a:rPr lang="en-US" dirty="0">
                <a:latin typeface="Times New Roman" panose="02020603050405020304" pitchFamily="18" charset="0"/>
                <a:cs typeface="Times New Roman" panose="02020603050405020304" pitchFamily="18" charset="0"/>
              </a:rPr>
              <a:t>Membership registration</a:t>
            </a:r>
          </a:p>
          <a:p>
            <a:r>
              <a:rPr lang="en-US" dirty="0">
                <a:latin typeface="Times New Roman" panose="02020603050405020304" pitchFamily="18" charset="0"/>
                <a:cs typeface="Times New Roman" panose="02020603050405020304" pitchFamily="18" charset="0"/>
              </a:rPr>
              <a:t>Attendance registration</a:t>
            </a:r>
          </a:p>
          <a:p>
            <a:r>
              <a:rPr lang="en-US" dirty="0">
                <a:latin typeface="Times New Roman" panose="02020603050405020304" pitchFamily="18" charset="0"/>
                <a:cs typeface="Times New Roman" panose="02020603050405020304" pitchFamily="18" charset="0"/>
              </a:rPr>
              <a:t>Management of payment</a:t>
            </a:r>
          </a:p>
          <a:p>
            <a:r>
              <a:rPr lang="en-US" dirty="0">
                <a:latin typeface="Times New Roman" panose="02020603050405020304" pitchFamily="18" charset="0"/>
                <a:cs typeface="Times New Roman" panose="02020603050405020304" pitchFamily="18" charset="0"/>
              </a:rPr>
              <a:t>Reports reviews</a:t>
            </a:r>
          </a:p>
        </p:txBody>
      </p:sp>
      <p:sp>
        <p:nvSpPr>
          <p:cNvPr id="5" name="TextBox 4">
            <a:extLst>
              <a:ext uri="{FF2B5EF4-FFF2-40B4-BE49-F238E27FC236}">
                <a16:creationId xmlns:a16="http://schemas.microsoft.com/office/drawing/2014/main" id="{54DA95A9-E048-DC05-43E4-46E2DA8C43FE}"/>
              </a:ext>
            </a:extLst>
          </p:cNvPr>
          <p:cNvSpPr txBox="1"/>
          <p:nvPr/>
        </p:nvSpPr>
        <p:spPr>
          <a:xfrm>
            <a:off x="3333136" y="3816628"/>
            <a:ext cx="6096000" cy="369332"/>
          </a:xfrm>
          <a:prstGeom prst="rect">
            <a:avLst/>
          </a:prstGeom>
          <a:noFill/>
        </p:spPr>
        <p:txBody>
          <a:bodyPr wrap="square">
            <a:spAutoFit/>
          </a:bodyPr>
          <a:lstStyle/>
          <a:p>
            <a:r>
              <a:rPr lang="en-US" dirty="0"/>
              <a:t>F</a:t>
            </a:r>
          </a:p>
        </p:txBody>
      </p:sp>
    </p:spTree>
    <p:extLst>
      <p:ext uri="{BB962C8B-B14F-4D97-AF65-F5344CB8AC3E}">
        <p14:creationId xmlns:p14="http://schemas.microsoft.com/office/powerpoint/2010/main" val="524305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435BC-5C44-4382-A5BD-BE5A6386BCA2}"/>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NON-FUNCTIONAL REQUIREMENTS</a:t>
            </a:r>
          </a:p>
        </p:txBody>
      </p:sp>
      <p:sp>
        <p:nvSpPr>
          <p:cNvPr id="3" name="Content Placeholder 2">
            <a:extLst>
              <a:ext uri="{FF2B5EF4-FFF2-40B4-BE49-F238E27FC236}">
                <a16:creationId xmlns:a16="http://schemas.microsoft.com/office/drawing/2014/main" id="{6CFFBFA8-E284-0419-035E-736075217BA2}"/>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System security</a:t>
            </a:r>
          </a:p>
          <a:p>
            <a:r>
              <a:rPr lang="en-US" dirty="0">
                <a:latin typeface="Times New Roman" panose="02020603050405020304" pitchFamily="18" charset="0"/>
                <a:cs typeface="Times New Roman" panose="02020603050405020304" pitchFamily="18" charset="0"/>
              </a:rPr>
              <a:t>User friendly interface</a:t>
            </a:r>
          </a:p>
          <a:p>
            <a:r>
              <a:rPr lang="en-US" dirty="0">
                <a:latin typeface="Times New Roman" panose="02020603050405020304" pitchFamily="18" charset="0"/>
                <a:cs typeface="Times New Roman" panose="02020603050405020304" pitchFamily="18" charset="0"/>
              </a:rPr>
              <a:t>Fast response time</a:t>
            </a:r>
          </a:p>
          <a:p>
            <a:r>
              <a:rPr lang="en-US" dirty="0">
                <a:latin typeface="Times New Roman" panose="02020603050405020304" pitchFamily="18" charset="0"/>
                <a:cs typeface="Times New Roman" panose="02020603050405020304" pitchFamily="18" charset="0"/>
              </a:rPr>
              <a:t>System reliability</a:t>
            </a:r>
          </a:p>
        </p:txBody>
      </p:sp>
    </p:spTree>
    <p:extLst>
      <p:ext uri="{BB962C8B-B14F-4D97-AF65-F5344CB8AC3E}">
        <p14:creationId xmlns:p14="http://schemas.microsoft.com/office/powerpoint/2010/main" val="1661004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BA0CA-2BEC-1C0B-CFB9-9E3C9856BF4E}"/>
              </a:ext>
            </a:extLst>
          </p:cNvPr>
          <p:cNvSpPr>
            <a:spLocks noGrp="1"/>
          </p:cNvSpPr>
          <p:nvPr>
            <p:ph type="title"/>
          </p:nvPr>
        </p:nvSpPr>
        <p:spPr>
          <a:xfrm>
            <a:off x="913795" y="609600"/>
            <a:ext cx="7463289" cy="1326321"/>
          </a:xfrm>
        </p:spPr>
        <p:txBody>
          <a:bodyPr>
            <a:normAutofit/>
          </a:bodyPr>
          <a:lstStyle/>
          <a:p>
            <a:r>
              <a:rPr lang="en-US" sz="2800" b="1"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SYSTEM ARCHITECTURE</a:t>
            </a:r>
          </a:p>
        </p:txBody>
      </p:sp>
      <p:sp>
        <p:nvSpPr>
          <p:cNvPr id="3" name="Content Placeholder 2">
            <a:extLst>
              <a:ext uri="{FF2B5EF4-FFF2-40B4-BE49-F238E27FC236}">
                <a16:creationId xmlns:a16="http://schemas.microsoft.com/office/drawing/2014/main" id="{BC95B7E2-0A3F-F6D3-6E4F-D68E35676B06}"/>
              </a:ext>
            </a:extLst>
          </p:cNvPr>
          <p:cNvSpPr>
            <a:spLocks noGrp="1"/>
          </p:cNvSpPr>
          <p:nvPr>
            <p:ph idx="1"/>
          </p:nvPr>
        </p:nvSpPr>
        <p:spPr>
          <a:xfrm>
            <a:off x="1799302" y="1789471"/>
            <a:ext cx="9554497" cy="4387492"/>
          </a:xfrm>
        </p:spPr>
        <p:txBody>
          <a:bodyPr>
            <a:normAutofit/>
          </a:bodyPr>
          <a:lstStyle/>
          <a:p>
            <a:r>
              <a:rPr lang="en-US" dirty="0">
                <a:latin typeface="Times New Roman" panose="02020603050405020304" pitchFamily="18" charset="0"/>
                <a:cs typeface="Times New Roman" panose="02020603050405020304" pitchFamily="18" charset="0"/>
              </a:rPr>
              <a:t>User interface: Mobile application (iOS/Android) and web portal</a:t>
            </a:r>
          </a:p>
          <a:p>
            <a:r>
              <a:rPr lang="en-US" dirty="0">
                <a:latin typeface="Times New Roman" panose="02020603050405020304" pitchFamily="18" charset="0"/>
                <a:cs typeface="Times New Roman" panose="02020603050405020304" pitchFamily="18" charset="0"/>
              </a:rPr>
              <a:t>Backend: secure database. Client information logs</a:t>
            </a:r>
          </a:p>
          <a:p>
            <a:r>
              <a:rPr lang="en-US" dirty="0">
                <a:latin typeface="Times New Roman" panose="02020603050405020304" pitchFamily="18" charset="0"/>
                <a:cs typeface="Times New Roman" panose="02020603050405020304" pitchFamily="18" charset="0"/>
              </a:rPr>
              <a:t>Hardware: door scanners for security</a:t>
            </a:r>
          </a:p>
        </p:txBody>
      </p:sp>
      <p:pic>
        <p:nvPicPr>
          <p:cNvPr id="8" name="Picture 7">
            <a:extLst>
              <a:ext uri="{FF2B5EF4-FFF2-40B4-BE49-F238E27FC236}">
                <a16:creationId xmlns:a16="http://schemas.microsoft.com/office/drawing/2014/main" id="{24DC5020-4942-088A-58F8-4AF72311A1F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970092" y="3333135"/>
            <a:ext cx="5936772" cy="3339350"/>
          </a:xfrm>
          <a:prstGeom prst="rect">
            <a:avLst/>
          </a:prstGeom>
        </p:spPr>
      </p:pic>
      <p:sp>
        <p:nvSpPr>
          <p:cNvPr id="9" name="TextBox 8">
            <a:extLst>
              <a:ext uri="{FF2B5EF4-FFF2-40B4-BE49-F238E27FC236}">
                <a16:creationId xmlns:a16="http://schemas.microsoft.com/office/drawing/2014/main" id="{A3AB9E89-4A64-58E8-4C2F-854A3A215BA7}"/>
              </a:ext>
            </a:extLst>
          </p:cNvPr>
          <p:cNvSpPr txBox="1"/>
          <p:nvPr/>
        </p:nvSpPr>
        <p:spPr>
          <a:xfrm>
            <a:off x="6302477" y="6824775"/>
            <a:ext cx="5604387" cy="230832"/>
          </a:xfrm>
          <a:prstGeom prst="rect">
            <a:avLst/>
          </a:prstGeom>
          <a:noFill/>
        </p:spPr>
        <p:txBody>
          <a:bodyPr wrap="square" rtlCol="0">
            <a:spAutoFit/>
          </a:bodyPr>
          <a:lstStyle/>
          <a:p>
            <a:r>
              <a:rPr lang="en-US" sz="900">
                <a:hlinkClick r:id="rId3" tooltip="https://technofaq.org/posts/2017/06/10-gadgets-and-gizmos-for-getting-fit/"/>
              </a:rPr>
              <a:t>This Photo</a:t>
            </a:r>
            <a:r>
              <a:rPr lang="en-US" sz="900"/>
              <a:t> by Unknown Author is licensed under </a:t>
            </a:r>
            <a:r>
              <a:rPr lang="en-US" sz="900">
                <a:hlinkClick r:id="rId4" tooltip="https://creativecommons.org/licenses/by-nc-sa/3.0/"/>
              </a:rPr>
              <a:t>CC BY-SA-NC</a:t>
            </a:r>
            <a:endParaRPr lang="en-US" sz="900"/>
          </a:p>
        </p:txBody>
      </p:sp>
      <p:pic>
        <p:nvPicPr>
          <p:cNvPr id="11" name="Picture 10">
            <a:extLst>
              <a:ext uri="{FF2B5EF4-FFF2-40B4-BE49-F238E27FC236}">
                <a16:creationId xmlns:a16="http://schemas.microsoft.com/office/drawing/2014/main" id="{905B8779-69EE-EA17-6364-C80774F7B6A9}"/>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59052" y="3223331"/>
            <a:ext cx="5109701" cy="3339350"/>
          </a:xfrm>
          <a:prstGeom prst="rect">
            <a:avLst/>
          </a:prstGeom>
        </p:spPr>
      </p:pic>
    </p:spTree>
    <p:extLst>
      <p:ext uri="{BB962C8B-B14F-4D97-AF65-F5344CB8AC3E}">
        <p14:creationId xmlns:p14="http://schemas.microsoft.com/office/powerpoint/2010/main" val="3407524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8684F-E3E4-70C9-3F89-3EF8C4ACB427}"/>
              </a:ext>
            </a:extLst>
          </p:cNvPr>
          <p:cNvSpPr>
            <a:spLocks noGrp="1"/>
          </p:cNvSpPr>
          <p:nvPr>
            <p:ph type="title"/>
          </p:nvPr>
        </p:nvSpPr>
        <p:spPr>
          <a:xfrm>
            <a:off x="913796" y="609600"/>
            <a:ext cx="8731650" cy="1326321"/>
          </a:xfrm>
        </p:spPr>
        <p:txBody>
          <a:bodyPr>
            <a:normAutofit/>
          </a:bodyPr>
          <a:lstStyle/>
          <a:p>
            <a:r>
              <a:rPr lang="en-US" sz="2800" b="1"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BENEFITS OF THE SYSTEM</a:t>
            </a:r>
          </a:p>
        </p:txBody>
      </p:sp>
      <p:sp>
        <p:nvSpPr>
          <p:cNvPr id="3" name="Content Placeholder 2">
            <a:extLst>
              <a:ext uri="{FF2B5EF4-FFF2-40B4-BE49-F238E27FC236}">
                <a16:creationId xmlns:a16="http://schemas.microsoft.com/office/drawing/2014/main" id="{2175BE75-D46A-16E5-6E12-9CA6F11345B9}"/>
              </a:ext>
            </a:extLst>
          </p:cNvPr>
          <p:cNvSpPr>
            <a:spLocks noGrp="1"/>
          </p:cNvSpPr>
          <p:nvPr>
            <p:ph idx="1"/>
          </p:nvPr>
        </p:nvSpPr>
        <p:spPr>
          <a:xfrm>
            <a:off x="2359743" y="1935921"/>
            <a:ext cx="9210368" cy="4073894"/>
          </a:xfrm>
        </p:spPr>
        <p:txBody>
          <a:bodyPr>
            <a:normAutofit/>
          </a:bodyPr>
          <a:lstStyle/>
          <a:p>
            <a:r>
              <a:rPr lang="en-US" dirty="0">
                <a:latin typeface="Times New Roman" panose="02020603050405020304" pitchFamily="18" charset="0"/>
                <a:cs typeface="Times New Roman" panose="02020603050405020304" pitchFamily="18" charset="0"/>
              </a:rPr>
              <a:t>Reducing manual workload</a:t>
            </a:r>
          </a:p>
          <a:p>
            <a:r>
              <a:rPr lang="en-US" dirty="0">
                <a:latin typeface="Times New Roman" panose="02020603050405020304" pitchFamily="18" charset="0"/>
                <a:cs typeface="Times New Roman" panose="02020603050405020304" pitchFamily="18" charset="0"/>
              </a:rPr>
              <a:t>Improves accuracy</a:t>
            </a:r>
          </a:p>
          <a:p>
            <a:r>
              <a:rPr lang="en-US" dirty="0">
                <a:latin typeface="Times New Roman" panose="02020603050405020304" pitchFamily="18" charset="0"/>
                <a:cs typeface="Times New Roman" panose="02020603050405020304" pitchFamily="18" charset="0"/>
              </a:rPr>
              <a:t>Saves time</a:t>
            </a:r>
          </a:p>
          <a:p>
            <a:r>
              <a:rPr lang="en-US" dirty="0">
                <a:latin typeface="Times New Roman" panose="02020603050405020304" pitchFamily="18" charset="0"/>
                <a:cs typeface="Times New Roman" panose="02020603050405020304" pitchFamily="18" charset="0"/>
              </a:rPr>
              <a:t>Customer satisfaction</a:t>
            </a:r>
          </a:p>
          <a:p>
            <a:r>
              <a:rPr lang="en-US" dirty="0">
                <a:latin typeface="Times New Roman" panose="02020603050405020304" pitchFamily="18" charset="0"/>
                <a:cs typeface="Times New Roman" panose="02020603050405020304" pitchFamily="18" charset="0"/>
              </a:rPr>
              <a:t>Guaranteed safety and security</a:t>
            </a:r>
          </a:p>
          <a:p>
            <a:r>
              <a:rPr lang="en-US" dirty="0">
                <a:latin typeface="Times New Roman" panose="02020603050405020304" pitchFamily="18" charset="0"/>
                <a:cs typeface="Times New Roman" panose="02020603050405020304" pitchFamily="18" charset="0"/>
              </a:rPr>
              <a:t>Increased value to the apartment</a:t>
            </a:r>
          </a:p>
        </p:txBody>
      </p:sp>
    </p:spTree>
    <p:extLst>
      <p:ext uri="{BB962C8B-B14F-4D97-AF65-F5344CB8AC3E}">
        <p14:creationId xmlns:p14="http://schemas.microsoft.com/office/powerpoint/2010/main" val="2107853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66CC8-2476-45FC-FD07-A3BA3A43CC35}"/>
              </a:ext>
            </a:extLst>
          </p:cNvPr>
          <p:cNvSpPr>
            <a:spLocks noGrp="1"/>
          </p:cNvSpPr>
          <p:nvPr>
            <p:ph type="title"/>
          </p:nvPr>
        </p:nvSpPr>
        <p:spPr>
          <a:xfrm>
            <a:off x="913795" y="609600"/>
            <a:ext cx="7168321" cy="1326321"/>
          </a:xfrm>
        </p:spPr>
        <p:txBody>
          <a:bodyPr>
            <a:normAutofit/>
          </a:bodyPr>
          <a:lstStyle/>
          <a:p>
            <a:r>
              <a:rPr lang="en-US" sz="36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2E77CBF7-D13D-150B-F913-B1B642F77E04}"/>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An apartment-based Gym management system  provides solutions to managing apartment gym facilities through structured access control, scheduling and monitoring. The successful implementation  benefits the residents and apartment management by improving service delivery, safety and accountability</a:t>
            </a:r>
            <a:r>
              <a:rPr lang="en-US" dirty="0"/>
              <a:t>.</a:t>
            </a:r>
          </a:p>
          <a:p>
            <a:pPr marL="3657600" lvl="8" indent="0">
              <a:buNone/>
            </a:pPr>
            <a:endParaRPr lang="en-US" dirty="0"/>
          </a:p>
          <a:p>
            <a:pPr marL="3657600" lvl="8" indent="0">
              <a:buNone/>
            </a:pPr>
            <a:r>
              <a:rPr lang="en-US" sz="4800" dirty="0">
                <a:solidFill>
                  <a:srgbClr val="92D050"/>
                </a:solidFill>
                <a:latin typeface="Times New Roman" panose="02020603050405020304" pitchFamily="18" charset="0"/>
                <a:cs typeface="Times New Roman" panose="02020603050405020304" pitchFamily="18" charset="0"/>
              </a:rPr>
              <a:t>THANK YOU</a:t>
            </a:r>
          </a:p>
          <a:p>
            <a:endParaRPr lang="en-US" dirty="0"/>
          </a:p>
        </p:txBody>
      </p:sp>
    </p:spTree>
    <p:extLst>
      <p:ext uri="{BB962C8B-B14F-4D97-AF65-F5344CB8AC3E}">
        <p14:creationId xmlns:p14="http://schemas.microsoft.com/office/powerpoint/2010/main" val="31173389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120</TotalTime>
  <Words>391</Words>
  <Application>Microsoft Office PowerPoint</Application>
  <PresentationFormat>Widescreen</PresentationFormat>
  <Paragraphs>65</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Bookman Old Style</vt:lpstr>
      <vt:lpstr>Calibri</vt:lpstr>
      <vt:lpstr>Rockwell</vt:lpstr>
      <vt:lpstr>Times New Roman</vt:lpstr>
      <vt:lpstr>Damask</vt:lpstr>
      <vt:lpstr>HEBRON APARTMENT-BASED GYM MANAGEMENT SYSTEM</vt:lpstr>
      <vt:lpstr>          INTRODUCTION</vt:lpstr>
      <vt:lpstr> PROBLEM STATEMENT</vt:lpstr>
      <vt:lpstr> OBJECTIVES OF THE SYSTEM</vt:lpstr>
      <vt:lpstr> SCOPE OF THE SYSTEM</vt:lpstr>
      <vt:lpstr> EXISTING SYSTEM</vt:lpstr>
      <vt:lpstr> PROPOSED SYSTEM</vt:lpstr>
      <vt:lpstr>SYSTEM USERS</vt:lpstr>
      <vt:lpstr> FUNCTIONAL REQUIREMENTS</vt:lpstr>
      <vt:lpstr>NON-FUNCTIONAL REQUIREMENTS</vt:lpstr>
      <vt:lpstr> SYSTEM ARCHITECTURE</vt:lpstr>
      <vt:lpstr> BENEFITS OF THE SYSTEM</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dc:creator>
  <cp:lastModifiedBy>PC</cp:lastModifiedBy>
  <cp:revision>20</cp:revision>
  <dcterms:created xsi:type="dcterms:W3CDTF">2026-01-26T18:12:27Z</dcterms:created>
  <dcterms:modified xsi:type="dcterms:W3CDTF">2026-01-26T20:13:21Z</dcterms:modified>
</cp:coreProperties>
</file>